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-884" y="-2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BB83D-98ED-4C58-B89A-F28C6DDF9A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1751F-EE8C-4003-A9A0-0C0705F53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86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judges. Introduce the team and state the one-line thesis: cyber telemetry and transaction data are analyzed in silos today, and this platform correlates them with explainable AI to catch fraud, intrusions, and quantum-era threats earlier. Keep this to 30-40 seconds — it's the hook, not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SOC and fraud teams both watch relevant signals but never in a shared context. Call out HNDL explicitly — it's the differentiator judges will remember. Close with the reframe: this isn't a new alert system, it's a shared risk language across cyber and transactional data. Aim for 45-60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the platform needs to operate: cyber telemetry sources on the left, transactional and threat-intel feeds in the middle, and the environment/compliance assumptions on the right. This grounds the solution as realistic and bank-deployable, not a toy demo. Keep to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here — this slide exists to show technical depth, not to be read aloud line by line. Point out the graph database and GNN choice for correlation, and the quantum-safe cryptography library, since both map directly back to the problem statement. 40-50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functional backbone: five stages from raw signal to actionable alert. Emphasize that correlation happens on a graph, not just a rules table, and that every score carries an explanation before it reaches an analyst. Mention supporting docs exist but don't dwell.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differentiators on the left map directly to the four problems raised earlier — make that callback explicit. The roadmap on the right shows judges this isn't just a hackathon demo; it has a realistic path to production in a bank. 50-60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isn't just one bank — it's the whole regulated payments ecosystem: banks, NBFCs, PSPs, and regulators who need SOC-as-a-service. Walk through the three monetization paths briefly; the point is optionality, not a single bet. 40-50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punchline of the uniqueness argument: existing SIEM and fraud tools each see half the picture, and neither watches for quantum-era exfiltration. Let the 'Full' column speak for itself — don't over-explain each row.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wireframe stands in for the live dashboard demo. Walk left to right: KPI strip for situational awareness, the correlation timeline, the plain-language XAI rationale, and the risk score. On the right, call out that different roles see different views of the same case. 50-60 seconds, longer if this is where the live demo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has two dimensions: organizational growth (top row — branch to cross-border) and technical elasticity (bottom row). Keep this brisk; judges care that the architecture doesn't fall over at bank-scale volume, not the implementation minutiae.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operational pillars, two rows. This slide exists to reassure judges an IT team could actually run this day-to-day — containerized, CI/CD'd, observable, self-tuning. Pick two to elaborate verbally (e.g., CI/CD and automated retraining) and let the rest stand on the slide.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 for gravitas — this is the trust slide. Five standard controls plus the one that differentiates the pitch: quantum-safe cryptography directly addressing HNDL. Land on that last box. 40-50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raw cyber and transaction sources feed a Kafka streaming layer, which lands in the graph correlation and AI engine — this dark band is the core IP, including the quantum risk module and XAI. Scores flow to an orchestrator that raises cases into role-specific dashboards. Keep it to the flow, not every box. 50-60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panels will hold live product screenshots or a short embedded demo clip before the final submission — for now they're intentionally marked as placeholders. Describe what each will show in one sentence rather than apologizing for the placeholder. 30-40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repo structure as evidence the architecture from earlier slides is actually implemented, not just conceptual. Mention the demo video and QR code will link to a live walkthrough.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thesis restated, thank the judges, and invite questions. Have the GitHub link and contact info visible for follow-up. 15-20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-https:/github.com/sanjanagraomys06-rgb/AI-Cyber-Transaction-Correlation" TargetMode="Externa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657A6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108960"/>
            <a:ext cx="4206240" cy="42062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10633" y="0"/>
            <a:ext cx="7863840" cy="685800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0"/>
            <a:ext cx="13716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8915400" y="2606040"/>
            <a:ext cx="1737360" cy="1737360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8" name="Image 0" descr="/home/claude/build/icons/shield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257" y="2831897"/>
            <a:ext cx="1285646" cy="1285646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9" name="Image 1" descr="/home/claude/build/icons/ato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1546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192024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Correlation of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Telemetry &amp;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Behaviour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640080" y="42519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AI platform that fuses SOC telemetry with banking transaction behaviour to detect fraud, cyber-intrusions, and quantum-era threats — before they settle.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58368" y="5257800"/>
            <a:ext cx="29260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5440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r>
              <a:rPr lang="en-US" sz="1300" i="1" dirty="0" err="1" smtClean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Finfusion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77900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 </a:t>
            </a:r>
            <a:r>
              <a:rPr lang="en-US" sz="1300" i="1" dirty="0" err="1" smtClean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Sanjana.g.rao,Srujan.g.rao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61173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r>
              <a:rPr lang="en-US" sz="1300" i="1" dirty="0" smtClean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11/07/26</a:t>
            </a:r>
            <a:endParaRPr lang="en-US" sz="1300" dirty="0"/>
          </a:p>
        </p:txBody>
      </p:sp>
      <p:pic>
        <p:nvPicPr>
          <p:cNvPr id="17" name="Image 2" descr="/home/claude/unpacked/ppt/media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446520"/>
            <a:ext cx="1554480" cy="182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and Fraud Signals Are Analyzed in Silos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run two parallel worlds: </a:t>
            </a:r>
            <a:r>
              <a:rPr lang="en-US" sz="13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teams</a:t>
            </a:r>
            <a:r>
              <a:rPr lang="en-US" sz="13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watch login events, firewall alerts, and endpoint telemetry, while </a:t>
            </a:r>
            <a:r>
              <a:rPr lang="en-US" sz="13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teams</a:t>
            </a:r>
            <a:r>
              <a:rPr lang="en-US" sz="13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watch UPI, NEFT, RTGS, card, and ATM transactions. The two views are rarely joined in real time.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349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credential and an anomalous transfer look like two unrelated events — until the loss is already realized. And a new class of threat is emerging: </a:t>
            </a: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Harvest-Now-Decrypt-Later (HNDL)</a:t>
            </a:r>
            <a:r>
              <a:rPr lang="en-US" sz="13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where adversaries quietly exfiltrate encrypted banking data today, to decrypt it once quantum computing matures.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B1F3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correlation, why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3218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monitoring reacts after settlement. Contextual, AI-driven correlation lets a bank act at the moment risk is forming — across both the network layer and the money movement layer.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618488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11" name="Image 0" descr="/home/claude/build/icons/filter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48" y="1683868"/>
            <a:ext cx="372161" cy="3721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73368" y="2240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False Positives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73368" y="2514600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SIEM and fraud engines flood analysts with noise, hiding real threats.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034272" y="14173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35440" y="1618488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16" name="Image 1" descr="/home/claude/build/icons/activity_165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820" y="1683868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35440" y="22402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Detection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235440" y="2514600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and transactions are reconciled after the fact, not at the moment of risk.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72200" y="32461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73368" y="3447288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21" name="Image 2" descr="/home/claude/build/icons/atom_165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748" y="3512668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73368" y="40690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to Quantum Risk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73368" y="4343400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HNDL-style exfiltration aimed at future decryption.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034272" y="3246120"/>
            <a:ext cx="26060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5440" y="3447288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26" name="Image 3" descr="/home/claude/build/icons/layers_1657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0820" y="3512668"/>
            <a:ext cx="372161" cy="3721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4069080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Tooling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235440" y="4343400"/>
            <a:ext cx="2203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fraud, and identity systems don't share a common risk language.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Pre-Requisites for the Platform to Operate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7" name="Image 0" descr="/home/claude/build/icons/database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94822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8" name="Text 5"/>
          <p:cNvSpPr/>
          <p:nvPr/>
        </p:nvSpPr>
        <p:spPr>
          <a:xfrm>
            <a:off x="822960" y="256032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Telemetry Sources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1248" y="3282696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145536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correlation alerts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" y="3904488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767328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&amp; IDS/IPS logs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" y="4526280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389120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/ EDR telemetry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" y="5148072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5010912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login events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" y="5769864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632704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&amp; network metadata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53458" y="160020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27778" y="187452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1" name="Image 1" descr="/home/claude/build/icons/card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479" y="194822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2" name="Text 18"/>
          <p:cNvSpPr/>
          <p:nvPr/>
        </p:nvSpPr>
        <p:spPr>
          <a:xfrm>
            <a:off x="4627778" y="256032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&amp; Threat Feeds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4646066" y="3282696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0"/>
          <p:cNvSpPr/>
          <p:nvPr/>
        </p:nvSpPr>
        <p:spPr>
          <a:xfrm>
            <a:off x="4856378" y="3145536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UPI, NEFT, RTGS transaction logs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646066" y="3904488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2"/>
          <p:cNvSpPr/>
          <p:nvPr/>
        </p:nvSpPr>
        <p:spPr>
          <a:xfrm>
            <a:off x="4856378" y="3767328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&amp; merchant payment logs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46066" y="4526280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4"/>
          <p:cNvSpPr/>
          <p:nvPr/>
        </p:nvSpPr>
        <p:spPr>
          <a:xfrm>
            <a:off x="4856378" y="4389120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 withdrawal logs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646066" y="5148072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6"/>
          <p:cNvSpPr/>
          <p:nvPr/>
        </p:nvSpPr>
        <p:spPr>
          <a:xfrm>
            <a:off x="4856378" y="5010912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threat-intel feeds (CTI)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46066" y="5769864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28"/>
          <p:cNvSpPr/>
          <p:nvPr/>
        </p:nvSpPr>
        <p:spPr>
          <a:xfrm>
            <a:off x="4856378" y="5632704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system API access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158277" y="160020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432597" y="187452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35" name="Image 2" descr="/home/claude/build/icons/settings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297" y="194822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6" name="Text 31"/>
          <p:cNvSpPr/>
          <p:nvPr/>
        </p:nvSpPr>
        <p:spPr>
          <a:xfrm>
            <a:off x="8432597" y="256032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Assumptions</a:t>
            </a:r>
            <a:endParaRPr lang="en-US" sz="1450" dirty="0"/>
          </a:p>
        </p:txBody>
      </p:sp>
      <p:sp>
        <p:nvSpPr>
          <p:cNvPr id="37" name="Shape 32"/>
          <p:cNvSpPr/>
          <p:nvPr/>
        </p:nvSpPr>
        <p:spPr>
          <a:xfrm>
            <a:off x="8450885" y="3282696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3"/>
          <p:cNvSpPr/>
          <p:nvPr/>
        </p:nvSpPr>
        <p:spPr>
          <a:xfrm>
            <a:off x="8661197" y="3145536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 / on-prem access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450885" y="3904488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0" name="Text 35"/>
          <p:cNvSpPr/>
          <p:nvPr/>
        </p:nvSpPr>
        <p:spPr>
          <a:xfrm>
            <a:off x="8661197" y="3767328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Data-sharing &amp; consent approvals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450885" y="4526280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2" name="Text 37"/>
          <p:cNvSpPr/>
          <p:nvPr/>
        </p:nvSpPr>
        <p:spPr>
          <a:xfrm>
            <a:off x="8661197" y="4389120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 labeled historical data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8450885" y="5148072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4" name="Text 39"/>
          <p:cNvSpPr/>
          <p:nvPr/>
        </p:nvSpPr>
        <p:spPr>
          <a:xfrm>
            <a:off x="8661197" y="5010912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/ PCI DSS compliance sign-off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450885" y="5769864"/>
            <a:ext cx="82296" cy="822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6" name="Text 41"/>
          <p:cNvSpPr/>
          <p:nvPr/>
        </p:nvSpPr>
        <p:spPr>
          <a:xfrm>
            <a:off x="8661197" y="5632704"/>
            <a:ext cx="27075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banking environment for PoC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 Powering 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6" name="Image 0" descr="/home/claude/build/icons/activity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1546708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ext 4"/>
          <p:cNvSpPr/>
          <p:nvPr/>
        </p:nvSpPr>
        <p:spPr>
          <a:xfrm>
            <a:off x="749808" y="20482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Streaming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106436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463040"/>
            <a:ext cx="10643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47642" y="1463040"/>
            <a:ext cx="106436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7642" y="1463040"/>
            <a:ext cx="10643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Flink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03443" y="1463040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03443" y="1463040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27571" y="1463040"/>
            <a:ext cx="998525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7571" y="1463040"/>
            <a:ext cx="9985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17536" y="1463040"/>
            <a:ext cx="113019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17536" y="1463040"/>
            <a:ext cx="11301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(Graph)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91840" y="1828800"/>
            <a:ext cx="8122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high-velocity telemetry and transaction streams and stores both time-series and relationship data.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2633472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2816352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1" name="Image 1" descr="/home/claude/build/icons/cpu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2881732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2" name="Text 18"/>
          <p:cNvSpPr/>
          <p:nvPr/>
        </p:nvSpPr>
        <p:spPr>
          <a:xfrm>
            <a:off x="749808" y="338328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Correlation Engine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91840" y="2798064"/>
            <a:ext cx="669341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91840" y="2798064"/>
            <a:ext cx="6693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052621" y="2798064"/>
            <a:ext cx="73517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52621" y="2798064"/>
            <a:ext cx="7351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879238" y="2798064"/>
            <a:ext cx="1656893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79238" y="2798064"/>
            <a:ext cx="165689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627571" y="2798064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627571" y="2798064"/>
            <a:ext cx="13277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046720" y="2798064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046720" y="27980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(XAI)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291840" y="3163824"/>
            <a:ext cx="8122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anomalies, correlates entities across data types, and explains every risk score in human terms.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48640" y="3968496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49808" y="4151376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36" name="Image 2" descr="/home/claude/build/icons/lock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8" y="4216756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7" name="Text 32"/>
          <p:cNvSpPr/>
          <p:nvPr/>
        </p:nvSpPr>
        <p:spPr>
          <a:xfrm>
            <a:off x="749808" y="47183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Security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3291840" y="4133088"/>
            <a:ext cx="152521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291840" y="4133088"/>
            <a:ext cx="15252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Kubernetes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908499" y="4133088"/>
            <a:ext cx="998525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908499" y="4133088"/>
            <a:ext cx="9985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/ AWS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5998464" y="4133088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998464" y="4133088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7351776" y="4133088"/>
            <a:ext cx="1788566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351776" y="4133088"/>
            <a:ext cx="17885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Quantum Safe (PQC)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9231782" y="4133088"/>
            <a:ext cx="113019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231782" y="4133088"/>
            <a:ext cx="11301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RBAC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3291840" y="4498848"/>
            <a:ext cx="8122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hardened microservices with secrets management and quantum-safe cryptography baked in.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548640" y="5303520"/>
            <a:ext cx="11094415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749808" y="5486400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51" name="Image 3" descr="/home/claude/build/icons/eye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8" y="5551780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52" name="Text 46"/>
          <p:cNvSpPr/>
          <p:nvPr/>
        </p:nvSpPr>
        <p:spPr>
          <a:xfrm>
            <a:off x="749808" y="605332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&amp; Delivery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3291840" y="5468112"/>
            <a:ext cx="73517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291840" y="5468112"/>
            <a:ext cx="7351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4118458" y="5468112"/>
            <a:ext cx="603504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4118458" y="546811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4813402" y="5468112"/>
            <a:ext cx="73517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4813402" y="5468112"/>
            <a:ext cx="7351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5640019" y="5468112"/>
            <a:ext cx="801014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5640019" y="5468112"/>
            <a:ext cx="80101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6532474" y="5468112"/>
            <a:ext cx="152521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6532474" y="5468112"/>
            <a:ext cx="15252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GraphQL APIs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3291840" y="5833872"/>
            <a:ext cx="8122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real-time dashboards to SOC analysts and integrates into existing bank tooling via open APIs.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792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17792" y="90525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Signal Moves Through 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94343" y="3766126"/>
            <a:ext cx="385218" cy="256032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3382078"/>
            <a:ext cx="960120" cy="9601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6" name="Image 0" descr="/home/claude/build/icons/database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76" y="3506894"/>
            <a:ext cx="710489" cy="71048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7" name="Shape 4"/>
          <p:cNvSpPr/>
          <p:nvPr/>
        </p:nvSpPr>
        <p:spPr>
          <a:xfrm>
            <a:off x="1650492" y="3290638"/>
            <a:ext cx="347472" cy="347472"/>
          </a:xfrm>
          <a:prstGeom prst="ellipse">
            <a:avLst/>
          </a:prstGeom>
          <a:solidFill>
            <a:srgbClr val="3B7D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50492" y="329063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47935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484511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Stream telemetry &amp; transactions in real 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33606" y="3766126"/>
            <a:ext cx="385218" cy="256032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12" name="Shape 9"/>
          <p:cNvSpPr/>
          <p:nvPr/>
        </p:nvSpPr>
        <p:spPr>
          <a:xfrm>
            <a:off x="3276524" y="3382078"/>
            <a:ext cx="960120" cy="9601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3" name="Image 1" descr="/home/claude/build/icons/filter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339" y="3506894"/>
            <a:ext cx="710489" cy="71048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Shape 10"/>
          <p:cNvSpPr/>
          <p:nvPr/>
        </p:nvSpPr>
        <p:spPr>
          <a:xfrm>
            <a:off x="3989756" y="3290638"/>
            <a:ext cx="347472" cy="347472"/>
          </a:xfrm>
          <a:prstGeom prst="ellipse">
            <a:avLst/>
          </a:prstGeom>
          <a:solidFill>
            <a:srgbClr val="3B7D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89756" y="329063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705024" y="447935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&amp; Enrich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59304" y="484511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Standardize events, attach identity &amp; device context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072870" y="3766126"/>
            <a:ext cx="385218" cy="256032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19" name="Shape 15"/>
          <p:cNvSpPr/>
          <p:nvPr/>
        </p:nvSpPr>
        <p:spPr>
          <a:xfrm>
            <a:off x="5615788" y="3382078"/>
            <a:ext cx="960120" cy="9601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0" name="Image 2" descr="/home/claude/build/icons/gitbranch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603" y="3506894"/>
            <a:ext cx="710489" cy="71048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1" name="Shape 16"/>
          <p:cNvSpPr/>
          <p:nvPr/>
        </p:nvSpPr>
        <p:spPr>
          <a:xfrm>
            <a:off x="6329020" y="3290638"/>
            <a:ext cx="347472" cy="347472"/>
          </a:xfrm>
          <a:prstGeom prst="ellipse">
            <a:avLst/>
          </a:prstGeom>
          <a:solidFill>
            <a:srgbClr val="3B7D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29020" y="329063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44288" y="447935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998568" y="484511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Graph + ML link cyber and transactional entities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412134" y="3766126"/>
            <a:ext cx="385218" cy="256032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26" name="Shape 21"/>
          <p:cNvSpPr/>
          <p:nvPr/>
        </p:nvSpPr>
        <p:spPr>
          <a:xfrm>
            <a:off x="7955051" y="3382078"/>
            <a:ext cx="960120" cy="9601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7" name="Image 3" descr="/home/claude/build/icons/target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9867" y="3506894"/>
            <a:ext cx="710489" cy="71048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8" name="Shape 22"/>
          <p:cNvSpPr/>
          <p:nvPr/>
        </p:nvSpPr>
        <p:spPr>
          <a:xfrm>
            <a:off x="8668283" y="3290638"/>
            <a:ext cx="347472" cy="347472"/>
          </a:xfrm>
          <a:prstGeom prst="ellipse">
            <a:avLst/>
          </a:prstGeom>
          <a:solidFill>
            <a:srgbClr val="3B7D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68283" y="329063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83551" y="447935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Explain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337831" y="484511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Risk score generated with SHAP-based XAI rationale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0294315" y="3382078"/>
            <a:ext cx="960120" cy="9601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33" name="Image 4" descr="/home/claude/build/icons/alert_0EA5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131" y="3506894"/>
            <a:ext cx="710489" cy="71048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34" name="Shape 27"/>
          <p:cNvSpPr/>
          <p:nvPr/>
        </p:nvSpPr>
        <p:spPr>
          <a:xfrm>
            <a:off x="11007547" y="3290638"/>
            <a:ext cx="347472" cy="347472"/>
          </a:xfrm>
          <a:prstGeom prst="ellipse">
            <a:avLst/>
          </a:prstGeom>
          <a:solidFill>
            <a:srgbClr val="3B7D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1007547" y="329063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722815" y="447935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&amp; Act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677095" y="484511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Prioritized alert routed to SOC / fraud dashboard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35923" y="1755975"/>
            <a:ext cx="11094415" cy="995692"/>
          </a:xfrm>
          <a:prstGeom prst="roundRect">
            <a:avLst>
              <a:gd name="adj" fmla="val 8421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64523" y="1755975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u="sng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artifacts</a:t>
            </a:r>
            <a:r>
              <a:rPr lang="en-US" sz="14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diagram, correlation-rule logic flow, XAI decision-tree exports, and a fraud-cyber event taxonomy document accompany this pipeline as reference material for reviewers</a:t>
            </a:r>
            <a:r>
              <a:rPr lang="en-US" sz="115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 &amp; Adoption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5" name="Image 0" descr="/home/claude/build/icons/gitbranch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15367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35608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Correlation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98448" y="1755648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 model joins identity, device, network, and money-movement events.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566928" cy="566928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9" name="Image 1" descr="/home/claude/build/icons/eye_165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2835189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734056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AI, Not a Black Box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3054096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score ships with a SHAP-based, analyst-readable rationale.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4059936"/>
            <a:ext cx="566928" cy="566928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13" name="Image 2" descr="/home/claude/build/icons/atom_165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41336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032504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Risk Monitoring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98448" y="4352544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detection for Harvest-Now-Decrypt-Later exfiltration patterns.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358384"/>
            <a:ext cx="566928" cy="566928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17" name="Image 3" descr="/home/claude/build/icons/trending_1657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41" y="5432085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5330952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Behavioral Analytics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98448" y="5650992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retrain continuously against evolving fraud and attack behaviour.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92240" y="1463040"/>
            <a:ext cx="5150815" cy="5120640"/>
          </a:xfrm>
          <a:prstGeom prst="roundRect">
            <a:avLst>
              <a:gd name="adj" fmla="val 1429"/>
            </a:avLst>
          </a:prstGeom>
          <a:solidFill>
            <a:srgbClr val="0B1F3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12280" y="173736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Roadmap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793992" y="236829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Shape 17"/>
          <p:cNvSpPr/>
          <p:nvPr/>
        </p:nvSpPr>
        <p:spPr>
          <a:xfrm>
            <a:off x="6867144" y="2514600"/>
            <a:ext cx="0" cy="1234440"/>
          </a:xfrm>
          <a:prstGeom prst="line">
            <a:avLst/>
          </a:prstGeom>
          <a:noFill/>
          <a:ln w="19050">
            <a:solidFill>
              <a:srgbClr val="3B7DD8"/>
            </a:solidFill>
            <a:prstDash val="dash"/>
          </a:ln>
        </p:spPr>
      </p:sp>
      <p:sp>
        <p:nvSpPr>
          <p:cNvPr id="24" name="Text 18"/>
          <p:cNvSpPr/>
          <p:nvPr/>
        </p:nvSpPr>
        <p:spPr>
          <a:xfrm>
            <a:off x="7086600" y="2221992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Pilot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086600" y="2478024"/>
            <a:ext cx="4236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0–3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086600" y="2734056"/>
            <a:ext cx="4236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Single-branch PoC on historical data; validate correlation accuracy &amp; false-positive reduction.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793992" y="378561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Shape 22"/>
          <p:cNvSpPr/>
          <p:nvPr/>
        </p:nvSpPr>
        <p:spPr>
          <a:xfrm>
            <a:off x="6867144" y="3931920"/>
            <a:ext cx="0" cy="1234440"/>
          </a:xfrm>
          <a:prstGeom prst="line">
            <a:avLst/>
          </a:prstGeom>
          <a:noFill/>
          <a:ln w="19050">
            <a:solidFill>
              <a:srgbClr val="3B7DD8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7086600" y="3639312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Integration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086600" y="3895344"/>
            <a:ext cx="4236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3–6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086600" y="4151376"/>
            <a:ext cx="4236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SIEM &amp; core-banking API integration; SOC analyst dashboard rollout.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793992" y="520293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27"/>
          <p:cNvSpPr/>
          <p:nvPr/>
        </p:nvSpPr>
        <p:spPr>
          <a:xfrm>
            <a:off x="7086600" y="5056632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Scale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086600" y="5312664"/>
            <a:ext cx="4236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6–12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7086600" y="5568696"/>
            <a:ext cx="4236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Multi-branch, multi-product rollout with quantum-risk module fully active.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Potential &amp; Relevance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815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87970" y="2029968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7" name="Image 0" descr="/home/claude/build/icons/bank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50" y="2095348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8" name="Text 5"/>
          <p:cNvSpPr/>
          <p:nvPr/>
        </p:nvSpPr>
        <p:spPr>
          <a:xfrm>
            <a:off x="640080" y="2651760"/>
            <a:ext cx="2398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&amp; Private Banks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6252" y="1828800"/>
            <a:ext cx="25815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5582" y="2029968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1" name="Image 1" descr="/home/claude/build/icons/trending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961" y="2095348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2" name="Text 8"/>
          <p:cNvSpPr/>
          <p:nvPr/>
        </p:nvSpPr>
        <p:spPr>
          <a:xfrm>
            <a:off x="3477692" y="2651760"/>
            <a:ext cx="2398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NBFCs &amp; FinTechs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23864" y="1828800"/>
            <a:ext cx="25815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63194" y="2029968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5" name="Image 2" descr="/home/claude/build/icons/link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573" y="2095348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6" name="Text 11"/>
          <p:cNvSpPr/>
          <p:nvPr/>
        </p:nvSpPr>
        <p:spPr>
          <a:xfrm>
            <a:off x="6315304" y="2651760"/>
            <a:ext cx="2398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Processors / PSPs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61475" y="1828800"/>
            <a:ext cx="25815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100805" y="2029968"/>
            <a:ext cx="502920" cy="50292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9" name="Image 3" descr="/home/claude/build/icons/shield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185" y="2095348"/>
            <a:ext cx="372161" cy="372161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0" name="Text 14"/>
          <p:cNvSpPr/>
          <p:nvPr/>
        </p:nvSpPr>
        <p:spPr>
          <a:xfrm>
            <a:off x="9152915" y="2651760"/>
            <a:ext cx="23987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 &amp; SOC-as-a-Service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Deployment Model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0690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build/icons/cloud_1657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20" y="4363060"/>
            <a:ext cx="372161" cy="3721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 Licensing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77240" y="5276088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license per bank, tiered by transaction volume &amp; module coverage.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338218" y="40690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6818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/home/claude/build/icons/activity_1657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2198" y="4363060"/>
            <a:ext cx="372161" cy="37216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66818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Transaction-Based Pricing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66818" y="5276088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fee per correlated transaction for mid-size PSPs &amp; NBFCs.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127797" y="406908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6397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/home/claude/build/icons/userverify_1657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776" y="4363060"/>
            <a:ext cx="372161" cy="37216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56397" y="49377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SOC Add-On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8356397" y="5276088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White-labeled analyst-as-a-service offering for smaller institutions.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of Approach and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23360" y="1508760"/>
            <a:ext cx="2326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SIEM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4218" y="1508760"/>
            <a:ext cx="2326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Fraud 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25077" y="1508760"/>
            <a:ext cx="2326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↔ Transaction Correlation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011680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1338" y="2011680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42197" y="2011680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11094415" cy="65836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7004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670048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1338" y="2670048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42197" y="2670048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32841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/ HNDL Risk Awareness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3328416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1338" y="3328416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42197" y="3328416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11094415" cy="658368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867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Behavioral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986784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1338" y="3986784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42197" y="3986784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464515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False-Positive Reduction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4645152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1338" y="4645152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42197" y="4645152"/>
            <a:ext cx="260085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View for the SOC &amp; Fraud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846320"/>
          </a:xfrm>
          <a:prstGeom prst="roundRect">
            <a:avLst>
              <a:gd name="adj" fmla="val 1132"/>
            </a:avLst>
          </a:prstGeom>
          <a:solidFill>
            <a:srgbClr val="07142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7223760" cy="45720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2763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62763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27632"/>
            <a:ext cx="128016" cy="128016"/>
          </a:xfrm>
          <a:prstGeom prst="ellipse">
            <a:avLst/>
          </a:prstGeom>
          <a:solidFill>
            <a:srgbClr val="0F9D6B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COMMAND DASHBOARD —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84832"/>
            <a:ext cx="1531620" cy="777240"/>
          </a:xfrm>
          <a:prstGeom prst="roundRect">
            <a:avLst>
              <a:gd name="adj" fmla="val 588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39696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Alerts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1740" y="2084832"/>
            <a:ext cx="1531620" cy="777240"/>
          </a:xfrm>
          <a:prstGeom prst="roundRect">
            <a:avLst>
              <a:gd name="adj" fmla="val 588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1740" y="2139696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91740" y="256032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Cases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60520" y="2084832"/>
            <a:ext cx="1531620" cy="777240"/>
          </a:xfrm>
          <a:prstGeom prst="roundRect">
            <a:avLst>
              <a:gd name="adj" fmla="val 588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139696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0520" y="256032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Risk Score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29300" y="2084832"/>
            <a:ext cx="1531620" cy="777240"/>
          </a:xfrm>
          <a:prstGeom prst="roundRect">
            <a:avLst>
              <a:gd name="adj" fmla="val 588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9300" y="2139696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29300" y="256032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Flags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CYBER–TRANSACTION CORRELATION TIMELINE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" y="3337560"/>
            <a:ext cx="6675120" cy="1371600"/>
          </a:xfrm>
          <a:prstGeom prst="roundRect">
            <a:avLst>
              <a:gd name="adj" fmla="val 3333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05840" y="3947922"/>
            <a:ext cx="701040" cy="26289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06880" y="3947922"/>
            <a:ext cx="701040" cy="157734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407920" y="3737610"/>
            <a:ext cx="701040" cy="368046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737610"/>
            <a:ext cx="701040" cy="26289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810000" y="3579876"/>
            <a:ext cx="701040" cy="420624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1040" y="3579876"/>
            <a:ext cx="701040" cy="26289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3842766"/>
            <a:ext cx="701040" cy="210312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913120" y="3685032"/>
            <a:ext cx="701040" cy="368046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14160" y="3685032"/>
            <a:ext cx="701040" cy="210312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3797046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892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RATIONALE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5166360"/>
            <a:ext cx="3931920" cy="960120"/>
          </a:xfrm>
          <a:prstGeom prst="roundRect">
            <a:avLst>
              <a:gd name="adj" fmla="val 476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257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device + login from unusual geo (+32)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RTGS transfer 5.4x above baseline (+41)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Endpoint flagged by EDR 6 min prior (+19)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37760" y="5166360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02A4C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5239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5440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937760" y="5897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/ DEMO PLACEHOLDER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92440" y="1463040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43" name="Image 0" descr="/home/claude/build/icons/ey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820" y="1528420"/>
            <a:ext cx="372161" cy="372161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750808" y="1435608"/>
            <a:ext cx="2892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View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750808" y="1719072"/>
            <a:ext cx="289224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alerts and transaction anomalies in a single case, not two consoles.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092440" y="2606040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47" name="Image 1" descr="/home/claude/build/icons/target_165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820" y="2671420"/>
            <a:ext cx="372161" cy="372161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750808" y="2578608"/>
            <a:ext cx="2892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Explainability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8750808" y="2862072"/>
            <a:ext cx="289224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expands into the exact contributing factors, in plain language.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8092440" y="3749040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51" name="Image 2" descr="/home/claude/build/icons/phone_165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820" y="3814420"/>
            <a:ext cx="372161" cy="372161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8750808" y="3721608"/>
            <a:ext cx="2892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Views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8750808" y="4005072"/>
            <a:ext cx="289224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analyst, fraud investigator, and compliance officer each see a tailored layout.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8092440" y="4892040"/>
            <a:ext cx="502920" cy="50292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55" name="Image 3" descr="/home/claude/build/icons/refresh_1657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7820" y="4957420"/>
            <a:ext cx="372161" cy="372161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8750808" y="4864608"/>
            <a:ext cx="28922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Refresh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8750808" y="5148072"/>
            <a:ext cx="289224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updates with no manual reconciliation between systems.</a:t>
            </a:r>
            <a:endParaRPr lang="en-US" sz="950" dirty="0"/>
          </a:p>
        </p:txBody>
      </p:sp>
      <p:sp>
        <p:nvSpPr>
          <p:cNvPr id="58" name="Text 5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GROW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Across Branches, Volumes &amp; Geographies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2161" y="1810512"/>
            <a:ext cx="455097" cy="237744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8176" y="182880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7" name="Image 0" descr="/home/claude/build/icons/server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877" y="190250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8" name="Text 5"/>
          <p:cNvSpPr/>
          <p:nvPr/>
        </p:nvSpPr>
        <p:spPr>
          <a:xfrm>
            <a:off x="658368" y="251460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Branch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82549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 one branch's telemetry &amp; transaction volume.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68299" y="1810512"/>
            <a:ext cx="455097" cy="237744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11" name="Shape 8"/>
          <p:cNvSpPr/>
          <p:nvPr/>
        </p:nvSpPr>
        <p:spPr>
          <a:xfrm>
            <a:off x="3484778" y="160020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4314" y="182880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3" name="Image 1" descr="/home/claude/build/icons/layers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015" y="190250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4" name="Text 10"/>
          <p:cNvSpPr/>
          <p:nvPr/>
        </p:nvSpPr>
        <p:spPr>
          <a:xfrm>
            <a:off x="3594506" y="251460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Bank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94506" y="282549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Horizontally scaled microservices absorb branch-level load.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804438" y="1810512"/>
            <a:ext cx="455097" cy="237744"/>
          </a:xfrm>
          <a:prstGeom prst="chevron">
            <a:avLst/>
          </a:prstGeom>
          <a:solidFill>
            <a:srgbClr val="0EA5E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20917" y="160020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80453" y="182880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9" name="Image 2" descr="/home/claude/build/icons/globe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153" y="190250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0" name="Text 15"/>
          <p:cNvSpPr/>
          <p:nvPr/>
        </p:nvSpPr>
        <p:spPr>
          <a:xfrm>
            <a:off x="6530645" y="251460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Multi-Bank Platform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530645" y="282549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supports several institutions.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357055" y="160020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16591" y="1828800"/>
            <a:ext cx="566928" cy="566928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4" name="Image 3" descr="/home/claude/build/icons/map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0292" y="1902501"/>
            <a:ext cx="419527" cy="41952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5" name="Text 19"/>
          <p:cNvSpPr/>
          <p:nvPr/>
        </p:nvSpPr>
        <p:spPr>
          <a:xfrm>
            <a:off x="9466783" y="251460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Deployment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466783" y="2825496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data residency &amp; localized compliance rules.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4672" y="4005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build/icons/gitbranch_1657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95" y="4076395"/>
            <a:ext cx="405994" cy="40599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4672" y="4709160"/>
            <a:ext cx="30031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Microservices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04672" y="5166360"/>
            <a:ext cx="30031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pipeline stage (ingest, correlate, score, alert) scales independently on Kubernetes.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338218" y="37490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4250" y="4005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build/icons/activity_1657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574" y="4076395"/>
            <a:ext cx="405994" cy="40599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594250" y="4709160"/>
            <a:ext cx="30031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Partitioned Streaming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594250" y="5166360"/>
            <a:ext cx="30031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daily events partitioned by entity for parallel, low-latency processing.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8127797" y="374904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383829" y="4005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6" descr="/home/claude/build/icons/cpu_1657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5152" y="4076395"/>
            <a:ext cx="405994" cy="40599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383829" y="4709160"/>
            <a:ext cx="30031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Model Serving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383829" y="5166360"/>
            <a:ext cx="30031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GPU/CPU autoscaling for ML &amp; graph inference during peak transaction windows.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Deployment &amp; Maintenance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4650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6" name="Image 0" descr="/home/claude/build/icons/layers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ext 4"/>
          <p:cNvSpPr/>
          <p:nvPr/>
        </p:nvSpPr>
        <p:spPr>
          <a:xfrm>
            <a:off x="786384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Everywhere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 orchestrated by Kubernetes for consistent, portable deployment.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38218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5962" y="174650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1" name="Image 1" descr="/home/claude/build/icons/refresh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286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2" name="Text 8"/>
          <p:cNvSpPr/>
          <p:nvPr/>
        </p:nvSpPr>
        <p:spPr>
          <a:xfrm>
            <a:off x="4575962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5962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build, test, and rollout with blue-green deployment for zero downtime.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27797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5541" y="174650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16" name="Image 2" descr="/home/claude/build/icons/link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864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7" name="Text 12"/>
          <p:cNvSpPr/>
          <p:nvPr/>
        </p:nvSpPr>
        <p:spPr>
          <a:xfrm>
            <a:off x="8365541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Integration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65541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REST/GraphQL connectors plug into existing SIEM &amp; core-banking systems.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416966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1" name="Image 3" descr="/home/claude/build/icons/eye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2" name="Text 16"/>
          <p:cNvSpPr/>
          <p:nvPr/>
        </p:nvSpPr>
        <p:spPr>
          <a:xfrm>
            <a:off x="786384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Observability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86384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logging, tracing &amp; alerting via Grafana/Prometheus stack.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38218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5962" y="416966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26" name="Image 4" descr="/home/claude/build/icons/cpu_0EA5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286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7" name="Text 20"/>
          <p:cNvSpPr/>
          <p:nvPr/>
        </p:nvSpPr>
        <p:spPr>
          <a:xfrm>
            <a:off x="4575962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Model Retraining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5962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retraining pipelines keep detection models current as behaviour shifts.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27797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5541" y="4169664"/>
            <a:ext cx="548640" cy="54864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31" name="Image 5" descr="/home/claude/build/icons/settings_0EA5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6864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2" name="Text 24"/>
          <p:cNvSpPr/>
          <p:nvPr/>
        </p:nvSpPr>
        <p:spPr>
          <a:xfrm>
            <a:off x="8365541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Configuration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65541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tune correlation rules &amp; thresholds without engineering tickets.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4650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6" name="Image 0" descr="/home/claude/build/icons/lock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ext 4"/>
          <p:cNvSpPr/>
          <p:nvPr/>
        </p:nvSpPr>
        <p:spPr>
          <a:xfrm>
            <a:off x="786384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in transit, AES-256 at rest across every data store.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38218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5962" y="174650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11" name="Image 1" descr="/home/claude/build/icons/key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286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2" name="Text 8"/>
          <p:cNvSpPr/>
          <p:nvPr/>
        </p:nvSpPr>
        <p:spPr>
          <a:xfrm>
            <a:off x="4575962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&amp; RBAC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5962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service call authenticated; least-privilege role-based access.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27797" y="15087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5541" y="174650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16" name="Image 2" descr="/home/claude/build/icons/database_0EA5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864" y="181782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7" name="Text 12"/>
          <p:cNvSpPr/>
          <p:nvPr/>
        </p:nvSpPr>
        <p:spPr>
          <a:xfrm>
            <a:off x="8365541" y="242316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Logs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65541" y="288036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logging of every alert, score, and analyst action.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6384" y="416966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21" name="Image 3" descr="/home/claude/build/icons/eye_0EA5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2" name="Text 16"/>
          <p:cNvSpPr/>
          <p:nvPr/>
        </p:nvSpPr>
        <p:spPr>
          <a:xfrm>
            <a:off x="786384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&amp; Privacy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86384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and account data masked in non-production and analyst views.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38218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5962" y="416966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26" name="Image 4" descr="/home/claude/build/icons/check_0EA5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286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7" name="Text 20"/>
          <p:cNvSpPr/>
          <p:nvPr/>
        </p:nvSpPr>
        <p:spPr>
          <a:xfrm>
            <a:off x="4575962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5962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RBI guidelines, PCI DSS, ISO 27001, and GDPR principles.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27797" y="39319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07142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65541" y="4169664"/>
            <a:ext cx="548640" cy="548640"/>
          </a:xfrm>
          <a:prstGeom prst="ellipse">
            <a:avLst/>
          </a:prstGeom>
          <a:solidFill>
            <a:srgbClr val="102A4C"/>
          </a:solidFill>
          <a:ln/>
        </p:spPr>
      </p:sp>
      <p:pic>
        <p:nvPicPr>
          <p:cNvPr id="31" name="Image 5" descr="/home/claude/build/icons/atom_0EA5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6864" y="4240987"/>
            <a:ext cx="405994" cy="405994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2" name="Text 24"/>
          <p:cNvSpPr/>
          <p:nvPr/>
        </p:nvSpPr>
        <p:spPr>
          <a:xfrm>
            <a:off x="8365541" y="4846320"/>
            <a:ext cx="3039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Quantum-Safe Cryptography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65541" y="5303520"/>
            <a:ext cx="30397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algorithms (PQC) mitigate Harvest-Now-Decrypt-Later exposure.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0946" y="116246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0197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15969" y="117973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build/icons/databas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405" y="1213769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0" y="1611023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Telemetry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(SIEM, Firewall, EDR, Auth)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741854" y="1188201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build/icons/card_165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224" y="12561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77167" y="1551771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(UPI · NEFT · RTGS · Card · ATM)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801606" y="1213259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build/icons/link_165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1042" y="1272695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54518" y="1581575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Threat-Intel Feeds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605534" y="2224357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8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85800" y="23774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STREAMING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715969" y="23342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build/icons/activity_1657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405" y="242755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68880" y="2706624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Bus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758788" y="2342719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/home/claude/build/icons/refresh_1657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8224" y="2419089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72706" y="2649220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Normalization &amp; Enrichment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9801606" y="2368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/home/claude/build/icons/databas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042" y="2427556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28545" y="2585628"/>
            <a:ext cx="2921203" cy="648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(raw + curated)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561270" y="3279135"/>
            <a:ext cx="11094415" cy="850392"/>
          </a:xfrm>
          <a:prstGeom prst="roundRect">
            <a:avLst>
              <a:gd name="adj" fmla="val 5217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85800" y="32918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CORRELATION &amp; AI ENGINE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3369485" y="3470825"/>
            <a:ext cx="457200" cy="457200"/>
          </a:xfrm>
          <a:prstGeom prst="ellipse">
            <a:avLst/>
          </a:prstGeom>
          <a:solidFill>
            <a:srgbClr val="12345E"/>
          </a:solidFill>
          <a:ln/>
        </p:spPr>
      </p:sp>
      <p:pic>
        <p:nvPicPr>
          <p:cNvPr id="29" name="Image 6" descr="/home/claude/build/icons/gitbranch_0EA5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8921" y="3530261"/>
            <a:ext cx="338328" cy="338328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0" name="Text 21"/>
          <p:cNvSpPr/>
          <p:nvPr/>
        </p:nvSpPr>
        <p:spPr>
          <a:xfrm>
            <a:off x="2468880" y="4027932"/>
            <a:ext cx="2190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Correlation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5651599" y="3470825"/>
            <a:ext cx="457200" cy="457200"/>
          </a:xfrm>
          <a:prstGeom prst="ellipse">
            <a:avLst/>
          </a:prstGeom>
          <a:solidFill>
            <a:srgbClr val="12345E"/>
          </a:solidFill>
          <a:ln/>
        </p:spPr>
      </p:sp>
      <p:pic>
        <p:nvPicPr>
          <p:cNvPr id="32" name="Image 7" descr="/home/claude/build/icons/cpu_0EA5E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1035" y="3530261"/>
            <a:ext cx="338328" cy="338328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3" name="Text 23"/>
          <p:cNvSpPr/>
          <p:nvPr/>
        </p:nvSpPr>
        <p:spPr>
          <a:xfrm>
            <a:off x="4750994" y="4027932"/>
            <a:ext cx="2190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Anomaly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7933713" y="3470825"/>
            <a:ext cx="457200" cy="457200"/>
          </a:xfrm>
          <a:prstGeom prst="ellipse">
            <a:avLst/>
          </a:prstGeom>
          <a:solidFill>
            <a:srgbClr val="12345E"/>
          </a:solidFill>
          <a:ln/>
        </p:spPr>
      </p:sp>
      <p:pic>
        <p:nvPicPr>
          <p:cNvPr id="35" name="Image 8" descr="/home/claude/build/icons/atom_0EA5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3149" y="3530261"/>
            <a:ext cx="338328" cy="338328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6" name="Text 25"/>
          <p:cNvSpPr/>
          <p:nvPr/>
        </p:nvSpPr>
        <p:spPr>
          <a:xfrm>
            <a:off x="7033108" y="4027932"/>
            <a:ext cx="2190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Risk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(HNDL)</a:t>
            </a:r>
            <a:endParaRPr lang="en-US" sz="800" dirty="0"/>
          </a:p>
        </p:txBody>
      </p:sp>
      <p:sp>
        <p:nvSpPr>
          <p:cNvPr id="37" name="Shape 26"/>
          <p:cNvSpPr/>
          <p:nvPr/>
        </p:nvSpPr>
        <p:spPr>
          <a:xfrm>
            <a:off x="10215826" y="3470825"/>
            <a:ext cx="457200" cy="457200"/>
          </a:xfrm>
          <a:prstGeom prst="ellipse">
            <a:avLst/>
          </a:prstGeom>
          <a:solidFill>
            <a:srgbClr val="12345E"/>
          </a:solidFill>
          <a:ln/>
        </p:spPr>
      </p:sp>
      <p:pic>
        <p:nvPicPr>
          <p:cNvPr id="38" name="Image 9" descr="/home/claude/build/icons/eye_0EA5E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5262" y="3530261"/>
            <a:ext cx="338328" cy="338328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39" name="Text 27"/>
          <p:cNvSpPr/>
          <p:nvPr/>
        </p:nvSpPr>
        <p:spPr>
          <a:xfrm>
            <a:off x="9315221" y="4027932"/>
            <a:ext cx="2190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(SHAP)</a:t>
            </a:r>
            <a:endParaRPr lang="en-US" sz="800" dirty="0"/>
          </a:p>
        </p:txBody>
      </p:sp>
      <p:sp>
        <p:nvSpPr>
          <p:cNvPr id="40" name="Shape 28"/>
          <p:cNvSpPr/>
          <p:nvPr/>
        </p:nvSpPr>
        <p:spPr>
          <a:xfrm>
            <a:off x="587602" y="43434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8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685800" y="434508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ORCHESTRATION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4476674" y="45051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10" descr="/home/claude/build/icons/target_1657A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6110" y="4564544"/>
            <a:ext cx="338328" cy="33832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2974189" y="4809744"/>
            <a:ext cx="33774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Risk Scoring</a:t>
            </a:r>
            <a:endParaRPr lang="en-US" sz="800" dirty="0"/>
          </a:p>
        </p:txBody>
      </p:sp>
      <p:sp>
        <p:nvSpPr>
          <p:cNvPr id="45" name="Shape 32"/>
          <p:cNvSpPr/>
          <p:nvPr/>
        </p:nvSpPr>
        <p:spPr>
          <a:xfrm>
            <a:off x="9040901" y="45051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11" descr="/home/claude/build/icons/alert_1657A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0337" y="4564544"/>
            <a:ext cx="338328" cy="33832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076960" y="4815671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&amp; Case Orchestrator</a:t>
            </a:r>
            <a:endParaRPr lang="en-US" sz="800" dirty="0"/>
          </a:p>
        </p:txBody>
      </p:sp>
      <p:sp>
        <p:nvSpPr>
          <p:cNvPr id="48" name="Shape 34"/>
          <p:cNvSpPr/>
          <p:nvPr/>
        </p:nvSpPr>
        <p:spPr>
          <a:xfrm>
            <a:off x="548640" y="53949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685800" y="53949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LAYER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3715969" y="5600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12" descr="/home/claude/build/icons/eye_1657A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5405" y="5660136"/>
            <a:ext cx="338328" cy="33832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2468880" y="5876708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 Dashboard</a:t>
            </a:r>
            <a:endParaRPr lang="en-US" sz="800" dirty="0"/>
          </a:p>
        </p:txBody>
      </p:sp>
      <p:sp>
        <p:nvSpPr>
          <p:cNvPr id="53" name="Shape 38"/>
          <p:cNvSpPr/>
          <p:nvPr/>
        </p:nvSpPr>
        <p:spPr>
          <a:xfrm>
            <a:off x="6758788" y="5600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13" descr="/home/claude/build/icons/userverify_1657A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8224" y="5660136"/>
            <a:ext cx="338328" cy="33832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5511698" y="5885175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Investigator View</a:t>
            </a:r>
            <a:endParaRPr lang="en-US" sz="800" dirty="0"/>
          </a:p>
        </p:txBody>
      </p:sp>
      <p:sp>
        <p:nvSpPr>
          <p:cNvPr id="56" name="Shape 40"/>
          <p:cNvSpPr/>
          <p:nvPr/>
        </p:nvSpPr>
        <p:spPr>
          <a:xfrm>
            <a:off x="9801606" y="56007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14" descr="/home/claude/build/icons/settings_1657A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1042" y="5660136"/>
            <a:ext cx="338328" cy="338328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8554517" y="5902109"/>
            <a:ext cx="2951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10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Compliance Console</a:t>
            </a:r>
            <a:endParaRPr lang="en-US" sz="800" dirty="0"/>
          </a:p>
        </p:txBody>
      </p:sp>
      <p:sp>
        <p:nvSpPr>
          <p:cNvPr id="59" name="Shape 42"/>
          <p:cNvSpPr/>
          <p:nvPr/>
        </p:nvSpPr>
        <p:spPr>
          <a:xfrm>
            <a:off x="6013552" y="2071617"/>
            <a:ext cx="164592" cy="118872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60" name="Shape 43"/>
          <p:cNvSpPr/>
          <p:nvPr/>
        </p:nvSpPr>
        <p:spPr>
          <a:xfrm>
            <a:off x="6013552" y="3079154"/>
            <a:ext cx="164592" cy="118872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61" name="Shape 44"/>
          <p:cNvSpPr/>
          <p:nvPr/>
        </p:nvSpPr>
        <p:spPr>
          <a:xfrm>
            <a:off x="6013552" y="4200138"/>
            <a:ext cx="164592" cy="118872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62" name="Shape 45"/>
          <p:cNvSpPr/>
          <p:nvPr/>
        </p:nvSpPr>
        <p:spPr>
          <a:xfrm>
            <a:off x="6013552" y="5216142"/>
            <a:ext cx="164592" cy="118872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63" name="Text 4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4" name="Text 4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Screens &amp; Dashboard Mockups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3058058" cy="2423160"/>
          </a:xfrm>
          <a:prstGeom prst="roundRect">
            <a:avLst>
              <a:gd name="adj" fmla="val 1887"/>
            </a:avLst>
          </a:prstGeom>
          <a:solidFill>
            <a:srgbClr val="F3F6FB"/>
          </a:solidFill>
          <a:ln w="15875">
            <a:solidFill>
              <a:srgbClr val="9FB4D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86229" y="2446020"/>
            <a:ext cx="640080" cy="64008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8" name="Image 0" descr="/home/claude/build/icons/ey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40" y="2529230"/>
            <a:ext cx="473659" cy="473659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9" name="Text 6"/>
          <p:cNvSpPr/>
          <p:nvPr/>
        </p:nvSpPr>
        <p:spPr>
          <a:xfrm>
            <a:off x="914400" y="313182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11" name="Image 1" descr="/home/claude/build/icons/ey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357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270248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Command Dashboard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461772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KPI strip, correlated case queue, and quantum-risk flags.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38218" y="15087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1737360"/>
            <a:ext cx="3058058" cy="2423160"/>
          </a:xfrm>
          <a:prstGeom prst="roundRect">
            <a:avLst>
              <a:gd name="adj" fmla="val 1887"/>
            </a:avLst>
          </a:prstGeom>
          <a:solidFill>
            <a:srgbClr val="F3F6FB"/>
          </a:solidFill>
          <a:ln w="15875">
            <a:solidFill>
              <a:srgbClr val="9FB4D6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775808" y="2446020"/>
            <a:ext cx="640080" cy="64008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17" name="Image 2" descr="/home/claude/build/icons/ey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2529230"/>
            <a:ext cx="473659" cy="473659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8" name="Text 13"/>
          <p:cNvSpPr/>
          <p:nvPr/>
        </p:nvSpPr>
        <p:spPr>
          <a:xfrm>
            <a:off x="4703978" y="313182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66818" y="4297680"/>
            <a:ext cx="457200" cy="45720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20" name="Image 3" descr="/home/claude/build/icons/target_1657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254" y="4357116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1178" y="4270248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Threat Explanation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66818" y="461772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rationale behind every risk score.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127797" y="15087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356397" y="1737360"/>
            <a:ext cx="3058058" cy="2423160"/>
          </a:xfrm>
          <a:prstGeom prst="roundRect">
            <a:avLst>
              <a:gd name="adj" fmla="val 1887"/>
            </a:avLst>
          </a:prstGeom>
          <a:solidFill>
            <a:srgbClr val="F3F6FB"/>
          </a:solidFill>
          <a:ln w="15875">
            <a:solidFill>
              <a:srgbClr val="9FB4D6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9565386" y="2446020"/>
            <a:ext cx="640080" cy="640080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pic>
        <p:nvPicPr>
          <p:cNvPr id="26" name="Image 4" descr="/home/claude/build/icons/eye_165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596" y="2529230"/>
            <a:ext cx="473659" cy="473659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7" name="Text 20"/>
          <p:cNvSpPr/>
          <p:nvPr/>
        </p:nvSpPr>
        <p:spPr>
          <a:xfrm>
            <a:off x="8493557" y="313182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8356397" y="4297680"/>
            <a:ext cx="457200" cy="457200"/>
          </a:xfrm>
          <a:prstGeom prst="ellipse">
            <a:avLst/>
          </a:prstGeom>
          <a:solidFill>
            <a:srgbClr val="F3F6FB"/>
          </a:solidFill>
          <a:ln/>
        </p:spPr>
      </p:sp>
      <p:pic>
        <p:nvPicPr>
          <p:cNvPr id="29" name="Image 5" descr="/home/claude/build/icons/activity_1657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833" y="4357116"/>
            <a:ext cx="338328" cy="33832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950757" y="4270248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Cyber–Transaction Timeline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8356397" y="461772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view linking a login event to its downstream transaction.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&amp; Demo Information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41866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57071" y="1157767"/>
            <a:ext cx="594360" cy="594360"/>
          </a:xfrm>
          <a:prstGeom prst="ellipse">
            <a:avLst/>
          </a:prstGeom>
          <a:solidFill>
            <a:srgbClr val="0B1F3F"/>
          </a:solidFill>
          <a:ln/>
        </p:spPr>
      </p:sp>
      <p:pic>
        <p:nvPicPr>
          <p:cNvPr id="6" name="Image 0" descr="/home/claude/build/icons/githu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338" y="1235034"/>
            <a:ext cx="439826" cy="439826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ext 4"/>
          <p:cNvSpPr/>
          <p:nvPr/>
        </p:nvSpPr>
        <p:spPr>
          <a:xfrm>
            <a:off x="8209398" y="1157767"/>
            <a:ext cx="3540642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55252" y="1452204"/>
            <a:ext cx="2872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3000"/>
              </a:lnSpc>
              <a:buSzPct val="100000"/>
            </a:pPr>
            <a:r>
              <a:rPr lang="en-IN" sz="1200" dirty="0">
                <a:solidFill>
                  <a:schemeClr val="accent1"/>
                </a:solidFill>
              </a:rPr>
              <a:t>AI-Cyber-Transaction-Correlation</a:t>
            </a:r>
            <a:endParaRPr lang="en-IN" sz="1050" dirty="0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69906" y="1285777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Structure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2613466"/>
            <a:ext cx="5669280" cy="1874520"/>
          </a:xfrm>
          <a:prstGeom prst="roundRect">
            <a:avLst>
              <a:gd name="adj" fmla="val 2439"/>
            </a:avLst>
          </a:prstGeom>
          <a:solidFill>
            <a:srgbClr val="071428"/>
          </a:solidFill>
          <a:ln/>
        </p:spPr>
      </p:sp>
      <p:sp>
        <p:nvSpPr>
          <p:cNvPr id="12" name="Text 9"/>
          <p:cNvSpPr/>
          <p:nvPr/>
        </p:nvSpPr>
        <p:spPr>
          <a:xfrm>
            <a:off x="569906" y="5904680"/>
            <a:ext cx="617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includes: problem context, setup steps, architecture diagram, sample data, and demo walkthrough.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560098"/>
            <a:ext cx="6192402" cy="413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7650529" y="2036375"/>
            <a:ext cx="3977640" cy="354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3000"/>
              </a:lnSpc>
              <a:buSzPct val="100000"/>
              <a:buFont typeface="Arial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Repository </a:t>
            </a:r>
            <a:r>
              <a:rPr lang="en-IN" sz="1400" dirty="0">
                <a:solidFill>
                  <a:schemeClr val="bg1"/>
                </a:solidFill>
                <a:hlinkClick r:id="rId5"/>
              </a:rPr>
              <a:t>URL:-</a:t>
            </a:r>
            <a:r>
              <a:rPr lang="en-IN" sz="1400" dirty="0">
                <a:solidFill>
                  <a:schemeClr val="accent1"/>
                </a:solidFill>
                <a:hlinkClick r:id="rId5"/>
              </a:rPr>
              <a:t>https://github.com/sanjanagraomys06-rgb/AI-Cyber-Transaction-Correlation</a:t>
            </a:r>
            <a:endParaRPr lang="en-IN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23000"/>
              </a:lnSpc>
              <a:buSzPct val="100000"/>
              <a:buFont typeface="Arial" pitchFamily="34" charset="0"/>
              <a:buChar char="•"/>
            </a:pPr>
            <a:r>
              <a:rPr lang="en-IN" sz="1400" dirty="0"/>
              <a:t>Repository Includes:-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Source Code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AI &amp; ML Models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Backend APIs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Frontend Dashboard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Sample Datasets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System Architecture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Project Documentation </a:t>
            </a:r>
          </a:p>
          <a:p>
            <a:pPr marL="742950" lvl="1" indent="-285750">
              <a:lnSpc>
                <a:spcPct val="123000"/>
              </a:lnSpc>
              <a:buSzPct val="100000"/>
              <a:buFont typeface="Wingdings" pitchFamily="2" charset="2"/>
              <a:buChar char="Ø"/>
            </a:pPr>
            <a:r>
              <a:rPr lang="en-IN" sz="1400" dirty="0"/>
              <a:t>Demo Resources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3" name="Shape 1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331720"/>
            <a:ext cx="2011680" cy="20116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Image 0" descr="/home/claude/build/icons/shield_0EA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38" y="2593238"/>
            <a:ext cx="1488643" cy="1488643"/>
          </a:xfrm>
          <a:prstGeom prst="rect">
            <a:avLst/>
          </a:prstGeom>
        </p:spPr>
      </p:pic>
      <p:pic>
        <p:nvPicPr>
          <p:cNvPr id="6" name="Image 1" descr="/home/claude/build/icons/ato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97180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0" y="12801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047488" y="16480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Correlation of Cybersecurity Telemetry &amp; Transactional Behaviour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5029200" y="818706"/>
            <a:ext cx="292608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591277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Correlating what your systems already know — so threats are caught before they settle</a:t>
            </a:r>
            <a:r>
              <a:rPr lang="en-US" sz="1200" i="1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pic>
        <p:nvPicPr>
          <p:cNvPr id="19" name="Image 2" descr="/home/claude/unpacked/ppt/media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6446520"/>
            <a:ext cx="15544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Finspark Hackathon 2026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53579"/>
            <a:ext cx="7420486" cy="3396053"/>
          </a:xfrm>
          <a:prstGeom prst="rect">
            <a:avLst/>
          </a:prstGeom>
        </p:spPr>
      </p:pic>
      <p:sp>
        <p:nvSpPr>
          <p:cNvPr id="26" name="Text 1"/>
          <p:cNvSpPr/>
          <p:nvPr/>
        </p:nvSpPr>
        <p:spPr>
          <a:xfrm>
            <a:off x="9950517" y="1691640"/>
            <a:ext cx="1910326" cy="2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Response Layer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9787001" y="2068675"/>
            <a:ext cx="2237359" cy="37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latin typeface="Cabin" pitchFamily="34" charset="0"/>
                <a:ea typeface="Cabin" pitchFamily="34" charset="-122"/>
                <a:cs typeface="Cabin" pitchFamily="34" charset="-120"/>
              </a:rPr>
              <a:t>SOAR, alerts and case management</a:t>
            </a:r>
            <a:endParaRPr lang="en-US" sz="1250" dirty="0"/>
          </a:p>
        </p:txBody>
      </p:sp>
      <p:sp>
        <p:nvSpPr>
          <p:cNvPr id="28" name="TextBox 27"/>
          <p:cNvSpPr txBox="1"/>
          <p:nvPr/>
        </p:nvSpPr>
        <p:spPr>
          <a:xfrm>
            <a:off x="10143460" y="3337559"/>
            <a:ext cx="195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9" name="Text 5"/>
          <p:cNvSpPr/>
          <p:nvPr/>
        </p:nvSpPr>
        <p:spPr>
          <a:xfrm>
            <a:off x="9950517" y="3450266"/>
            <a:ext cx="1910326" cy="23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AI Correlation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9852937" y="3750214"/>
            <a:ext cx="2237359" cy="37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latin typeface="Cabin" pitchFamily="34" charset="0"/>
                <a:ea typeface="Cabin" pitchFamily="34" charset="-122"/>
                <a:cs typeface="Cabin" pitchFamily="34" charset="-120"/>
              </a:rPr>
              <a:t>ML models and anomaly detection</a:t>
            </a:r>
            <a:endParaRPr lang="en-US" sz="1250" dirty="0"/>
          </a:p>
        </p:txBody>
      </p:sp>
      <p:sp>
        <p:nvSpPr>
          <p:cNvPr id="32" name="Text 3"/>
          <p:cNvSpPr/>
          <p:nvPr/>
        </p:nvSpPr>
        <p:spPr>
          <a:xfrm>
            <a:off x="4572000" y="2838353"/>
            <a:ext cx="2056926" cy="47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Threat Intelligence</a:t>
            </a:r>
            <a:endParaRPr lang="en-US" sz="1500" dirty="0"/>
          </a:p>
        </p:txBody>
      </p:sp>
      <p:sp>
        <p:nvSpPr>
          <p:cNvPr id="33" name="Text 4"/>
          <p:cNvSpPr/>
          <p:nvPr/>
        </p:nvSpPr>
        <p:spPr>
          <a:xfrm>
            <a:off x="4593266" y="3113637"/>
            <a:ext cx="2056926" cy="37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250" dirty="0">
                <a:latin typeface="Cabin" pitchFamily="34" charset="0"/>
                <a:ea typeface="Cabin" pitchFamily="34" charset="-122"/>
                <a:cs typeface="Cabin" pitchFamily="34" charset="-120"/>
              </a:rPr>
              <a:t>Real-time scoring and pattern matching</a:t>
            </a:r>
            <a:endParaRPr lang="en-US" sz="1250" dirty="0"/>
          </a:p>
        </p:txBody>
      </p:sp>
      <p:sp>
        <p:nvSpPr>
          <p:cNvPr id="35" name="Text 7"/>
          <p:cNvSpPr/>
          <p:nvPr/>
        </p:nvSpPr>
        <p:spPr>
          <a:xfrm>
            <a:off x="4933523" y="4888362"/>
            <a:ext cx="7156773" cy="91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latin typeface="Cabin" pitchFamily="34" charset="0"/>
                <a:ea typeface="Cabin" pitchFamily="34" charset="-122"/>
                <a:cs typeface="Cabin" pitchFamily="34" charset="-120"/>
              </a:rPr>
              <a:t>IntelliGuard AI's four-layer architecture ingests raw telemetry and transactional data, applies ML-based anomaly detection, scores threats in real time, and triggers automated response actions — all within milliseconds.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2354</Words>
  <Application>Microsoft Office PowerPoint</Application>
  <PresentationFormat>Custom</PresentationFormat>
  <Paragraphs>349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SANJANA</cp:lastModifiedBy>
  <cp:revision>8</cp:revision>
  <dcterms:created xsi:type="dcterms:W3CDTF">2026-07-11T08:14:32Z</dcterms:created>
  <dcterms:modified xsi:type="dcterms:W3CDTF">2026-07-11T16:53:50Z</dcterms:modified>
</cp:coreProperties>
</file>